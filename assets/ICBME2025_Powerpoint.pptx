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75" r:id="rId1"/>
  </p:sldMasterIdLst>
  <p:notesMasterIdLst>
    <p:notesMasterId r:id="rId17"/>
  </p:notesMasterIdLst>
  <p:sldIdLst>
    <p:sldId id="282" r:id="rId2"/>
    <p:sldId id="283" r:id="rId3"/>
    <p:sldId id="287" r:id="rId4"/>
    <p:sldId id="288" r:id="rId5"/>
    <p:sldId id="289" r:id="rId6"/>
    <p:sldId id="290" r:id="rId7"/>
    <p:sldId id="291" r:id="rId8"/>
    <p:sldId id="293" r:id="rId9"/>
    <p:sldId id="294" r:id="rId10"/>
    <p:sldId id="295" r:id="rId11"/>
    <p:sldId id="296" r:id="rId12"/>
    <p:sldId id="297" r:id="rId13"/>
    <p:sldId id="299" r:id="rId14"/>
    <p:sldId id="298" r:id="rId15"/>
    <p:sldId id="285" r:id="rId16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0070C0"/>
    <a:srgbClr val="740027"/>
    <a:srgbClr val="0071C1"/>
    <a:srgbClr val="FFFFFF"/>
    <a:srgbClr val="6D80BD"/>
    <a:srgbClr val="7D76B4"/>
    <a:srgbClr val="65668E"/>
    <a:srgbClr val="4C868F"/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639" autoAdjust="0"/>
  </p:normalViewPr>
  <p:slideViewPr>
    <p:cSldViewPr snapToGrid="0">
      <p:cViewPr varScale="1">
        <p:scale>
          <a:sx n="99" d="100"/>
          <a:sy n="99" d="100"/>
        </p:scale>
        <p:origin x="19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3CDFC2-56E2-4CC6-A4C3-1952FEAD7B8E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2C7DA4-6A48-42AD-B14B-7D32B2359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300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C7DA4-6A48-42AD-B14B-7D32B23595F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753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6509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2540000"/>
            <a:ext cx="7713900" cy="3551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 Medium"/>
              <a:buChar char="●"/>
              <a:defRPr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 Medium"/>
              <a:buChar char="○"/>
              <a:defRPr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 Medium"/>
              <a:buChar char="■"/>
              <a:defRPr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 Medium"/>
              <a:buChar char="●"/>
              <a:defRPr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 Medium"/>
              <a:buChar char="○"/>
              <a:defRPr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 Medium"/>
              <a:buChar char="■"/>
              <a:defRPr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 Medium"/>
              <a:buChar char="●"/>
              <a:defRPr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 Medium"/>
              <a:buChar char="○"/>
              <a:defRPr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Nunito Sans Medium"/>
              <a:buChar char="■"/>
              <a:defRPr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9pPr>
          </a:lstStyle>
          <a:p>
            <a:endParaRPr dirty="0"/>
          </a:p>
        </p:txBody>
      </p:sp>
      <p:sp>
        <p:nvSpPr>
          <p:cNvPr id="4" name="Rectangle 3"/>
          <p:cNvSpPr/>
          <p:nvPr userDrawn="1"/>
        </p:nvSpPr>
        <p:spPr>
          <a:xfrm rot="16200000">
            <a:off x="-1674645" y="3509610"/>
            <a:ext cx="4156244" cy="623248"/>
          </a:xfrm>
          <a:prstGeom prst="rect">
            <a:avLst/>
          </a:prstGeom>
          <a:noFill/>
          <a:effectLst>
            <a:glow rad="127000">
              <a:schemeClr val="bg1"/>
            </a:glow>
            <a:softEdge rad="1270000"/>
          </a:effectLst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sz="3600" b="1" i="0" u="none" strike="noStrike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Montserrat" panose="00000500000000000000" pitchFamily="2" charset="0"/>
                <a:ea typeface="Arial"/>
                <a:cs typeface="Arial"/>
                <a:sym typeface="Arial"/>
              </a:rPr>
              <a:t>ICBME2025</a:t>
            </a:r>
            <a:endParaRPr lang="en-US" sz="36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effectLst>
                <a:glow rad="139700">
                  <a:schemeClr val="accent2">
                    <a:satMod val="175000"/>
                    <a:alpha val="40000"/>
                  </a:schemeClr>
                </a:glow>
              </a:effectLst>
              <a:latin typeface="Montserrat" panose="00000500000000000000" pitchFamily="2" charset="0"/>
              <a:cs typeface="2  Compset" panose="00000400000000000000" pitchFamily="2" charset="-78"/>
            </a:endParaRPr>
          </a:p>
        </p:txBody>
      </p:sp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1638817"/>
            <a:ext cx="77139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erif Text"/>
              <a:buNone/>
              <a:defRPr sz="30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erif Text"/>
              <a:buNone/>
              <a:defRPr sz="30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erif Text"/>
              <a:buNone/>
              <a:defRPr sz="30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erif Text"/>
              <a:buNone/>
              <a:defRPr sz="30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erif Text"/>
              <a:buNone/>
              <a:defRPr sz="30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erif Text"/>
              <a:buNone/>
              <a:defRPr sz="30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erif Text"/>
              <a:buNone/>
              <a:defRPr sz="30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erif Text"/>
              <a:buNone/>
              <a:defRPr sz="30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erif Text"/>
              <a:buNone/>
              <a:defRPr sz="30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9pPr>
          </a:lstStyle>
          <a:p>
            <a:endParaRPr/>
          </a:p>
        </p:txBody>
      </p:sp>
      <p:pic>
        <p:nvPicPr>
          <p:cNvPr id="1038" name="Picture 14" descr="C:\Users\MAC\AppData\Local\Temp\SNAGHTML4b6326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"/>
            <a:ext cx="9144000" cy="6828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19" y="787"/>
            <a:ext cx="9144019" cy="180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43462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05" r:id="rId1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ehrdadghassabi/Gaokerena-V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huggingface.co/gaokeren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0"/>
          <p:cNvSpPr txBox="1"/>
          <p:nvPr/>
        </p:nvSpPr>
        <p:spPr>
          <a:xfrm>
            <a:off x="0" y="6404750"/>
            <a:ext cx="27135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number / Total page number</a:t>
            </a:r>
          </a:p>
        </p:txBody>
      </p:sp>
      <p:sp>
        <p:nvSpPr>
          <p:cNvPr id="5" name="TextBox 11"/>
          <p:cNvSpPr txBox="1"/>
          <p:nvPr/>
        </p:nvSpPr>
        <p:spPr>
          <a:xfrm>
            <a:off x="625209" y="1934786"/>
            <a:ext cx="349020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5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Article’s Code in ICBME 2025: icbme_1007</a:t>
            </a:r>
          </a:p>
        </p:txBody>
      </p:sp>
      <p:sp>
        <p:nvSpPr>
          <p:cNvPr id="6" name="TextBox 12"/>
          <p:cNvSpPr txBox="1"/>
          <p:nvPr/>
        </p:nvSpPr>
        <p:spPr>
          <a:xfrm>
            <a:off x="1030911" y="2651679"/>
            <a:ext cx="6858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Leveraging Online Data to Enhance Medical Knowledge in a Small Persian Language Model</a:t>
            </a:r>
            <a:endParaRPr lang="en-US" sz="2800" b="1" dirty="0">
              <a:latin typeface="Times New Roman" panose="02020603050405020304" pitchFamily="18" charset="0"/>
              <a:ea typeface="Glock Grotesk"/>
              <a:cs typeface="Times New Roman" panose="02020603050405020304" pitchFamily="18" charset="0"/>
              <a:sym typeface="Glock Grotesk"/>
            </a:endParaRPr>
          </a:p>
        </p:txBody>
      </p:sp>
      <p:sp>
        <p:nvSpPr>
          <p:cNvPr id="7" name="TextBox 13"/>
          <p:cNvSpPr txBox="1"/>
          <p:nvPr/>
        </p:nvSpPr>
        <p:spPr>
          <a:xfrm>
            <a:off x="410681" y="5216327"/>
            <a:ext cx="7828200" cy="807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5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Presenter: Mehrdad </a:t>
            </a:r>
            <a:r>
              <a:rPr lang="en-US" sz="2250" b="1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Ghassabi</a:t>
            </a:r>
            <a:endParaRPr lang="en-US" sz="2250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Isfahan</a:t>
            </a:r>
          </a:p>
        </p:txBody>
      </p:sp>
      <p:sp>
        <p:nvSpPr>
          <p:cNvPr id="8" name="TextBox 14"/>
          <p:cNvSpPr txBox="1"/>
          <p:nvPr/>
        </p:nvSpPr>
        <p:spPr>
          <a:xfrm>
            <a:off x="854238" y="4375725"/>
            <a:ext cx="7384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Ghassabi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Mehrdad / Rostami , Pedram / Baradaran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Kashani,Hamidreza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Poursina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Amirhossein / Kazemi , Zahra / Tavakoli , Milad</a:t>
            </a:r>
            <a:endParaRPr lang="en-US" b="1" dirty="0">
              <a:latin typeface="Times New Roman" panose="02020603050405020304" pitchFamily="18" charset="0"/>
              <a:ea typeface="Work Sans"/>
              <a:cs typeface="Times New Roman" panose="02020603050405020304" pitchFamily="18" charset="0"/>
              <a:sym typeface="Work Sans"/>
            </a:endParaRPr>
          </a:p>
        </p:txBody>
      </p:sp>
    </p:spTree>
    <p:extLst>
      <p:ext uri="{BB962C8B-B14F-4D97-AF65-F5344CB8AC3E}">
        <p14:creationId xmlns:p14="http://schemas.microsoft.com/office/powerpoint/2010/main" val="1758303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90350" y="2439468"/>
            <a:ext cx="6250132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and language models are transforming healthcare.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English models (e.g.,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MedPalm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ChatDoctor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already provide expert-level medical Q&amp;A.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Persian, spoken by millions, still lacks open, reliable medical language models.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Building such models is crucial for accessible healthcare AI and privacy-friendly local deployment.</a:t>
            </a:r>
          </a:p>
          <a:p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8" name="TextBox 11"/>
          <p:cNvSpPr txBox="1"/>
          <p:nvPr/>
        </p:nvSpPr>
        <p:spPr>
          <a:xfrm>
            <a:off x="625209" y="1934786"/>
            <a:ext cx="349020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5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Article’s Code in ICBME 2025: icbme_1007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0" y="6404750"/>
            <a:ext cx="27135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number / Total page number</a:t>
            </a:r>
          </a:p>
        </p:txBody>
      </p:sp>
    </p:spTree>
    <p:extLst>
      <p:ext uri="{BB962C8B-B14F-4D97-AF65-F5344CB8AC3E}">
        <p14:creationId xmlns:p14="http://schemas.microsoft.com/office/powerpoint/2010/main" val="2447860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FD3D0-F2F7-CFFD-7568-670EDC0BA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0736D1-53C3-7F2E-D9E1-4CDE3BF493E5}"/>
              </a:ext>
            </a:extLst>
          </p:cNvPr>
          <p:cNvSpPr txBox="1"/>
          <p:nvPr/>
        </p:nvSpPr>
        <p:spPr>
          <a:xfrm>
            <a:off x="990350" y="2439468"/>
            <a:ext cx="6250132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open Persian medical corpus or Q&amp;A dataset existed before.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only medical model (Sina-BERT) is closed-source and limited to extractive tasks.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 Persian LMs struggle to generate accurate, context-aware medical responses.</a:t>
            </a: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53FAEF16-E1A7-E982-FDF7-CF0178409753}"/>
              </a:ext>
            </a:extLst>
          </p:cNvPr>
          <p:cNvSpPr txBox="1"/>
          <p:nvPr/>
        </p:nvSpPr>
        <p:spPr>
          <a:xfrm>
            <a:off x="625209" y="1934786"/>
            <a:ext cx="349020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5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Article’s Code in ICBME 2025: icbme_1007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B521113-55F8-6ED0-C643-D11E5E1EC9FC}"/>
              </a:ext>
            </a:extLst>
          </p:cNvPr>
          <p:cNvSpPr txBox="1"/>
          <p:nvPr/>
        </p:nvSpPr>
        <p:spPr>
          <a:xfrm>
            <a:off x="0" y="6404750"/>
            <a:ext cx="27135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number / Total page number</a:t>
            </a:r>
          </a:p>
        </p:txBody>
      </p:sp>
    </p:spTree>
    <p:extLst>
      <p:ext uri="{BB962C8B-B14F-4D97-AF65-F5344CB8AC3E}">
        <p14:creationId xmlns:p14="http://schemas.microsoft.com/office/powerpoint/2010/main" val="2187104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B24C3-2D30-8C66-6245-10B36290B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695DF78-DECE-25D7-91C6-839884E68E48}"/>
              </a:ext>
            </a:extLst>
          </p:cNvPr>
          <p:cNvSpPr txBox="1"/>
          <p:nvPr/>
        </p:nvSpPr>
        <p:spPr>
          <a:xfrm>
            <a:off x="822591" y="2234868"/>
            <a:ext cx="782955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English Models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ChatDoctor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fine-tuned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LLaMA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with 100K QA pairs; strong performance, retrieval-augmented.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MedMobile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optimized for mobile devices; small but efficient.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Meerkat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trained on reasoning from textbooks, closer to human clinical thinking.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Persian Efforts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Sina-BERT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trained on crawled corpus + annotated datasets; but closed-source and encoder-based → unsuitable for generative Q&amp;A.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Other Persian QA systems (Veisi et al., Darabi): rely on retrieval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methodsrather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than true generative answers.</a:t>
            </a: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189C44E0-BDBF-84CB-F654-6355E6F7C024}"/>
              </a:ext>
            </a:extLst>
          </p:cNvPr>
          <p:cNvSpPr txBox="1"/>
          <p:nvPr/>
        </p:nvSpPr>
        <p:spPr>
          <a:xfrm>
            <a:off x="625209" y="1934786"/>
            <a:ext cx="349020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5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Article’s Code in ICBME 2025: icbme_1007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A4619DB-B703-FFF7-F777-81566CEBE2CA}"/>
              </a:ext>
            </a:extLst>
          </p:cNvPr>
          <p:cNvSpPr txBox="1"/>
          <p:nvPr/>
        </p:nvSpPr>
        <p:spPr>
          <a:xfrm>
            <a:off x="0" y="6404750"/>
            <a:ext cx="27135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number / Total page number</a:t>
            </a:r>
          </a:p>
        </p:txBody>
      </p:sp>
    </p:spTree>
    <p:extLst>
      <p:ext uri="{BB962C8B-B14F-4D97-AF65-F5344CB8AC3E}">
        <p14:creationId xmlns:p14="http://schemas.microsoft.com/office/powerpoint/2010/main" val="3009135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AD61C-F9BA-3F5B-BCA0-148170CA3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4A9D127-7BC5-CE96-6A91-477596828D4F}"/>
              </a:ext>
            </a:extLst>
          </p:cNvPr>
          <p:cNvSpPr txBox="1"/>
          <p:nvPr/>
        </p:nvSpPr>
        <p:spPr>
          <a:xfrm>
            <a:off x="657225" y="2859524"/>
            <a:ext cx="782955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you can see , there are several challenges in this field: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Datasets, models, and code are not publicly available, blocking reproducibility.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Focused on extractive solutions; cannot produce fluent, context-aware responses.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open benchmark or shared resources → research community left with a “blank slate.”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A904AE49-DEDE-2DF9-2FF0-D9C9C7C92538}"/>
              </a:ext>
            </a:extLst>
          </p:cNvPr>
          <p:cNvSpPr txBox="1"/>
          <p:nvPr/>
        </p:nvSpPr>
        <p:spPr>
          <a:xfrm>
            <a:off x="625209" y="1934786"/>
            <a:ext cx="349020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5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Article’s Code in ICBME 2025: icbme_1007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F2CF49F-0EC1-5522-6A1F-371E7C94CA37}"/>
              </a:ext>
            </a:extLst>
          </p:cNvPr>
          <p:cNvSpPr txBox="1"/>
          <p:nvPr/>
        </p:nvSpPr>
        <p:spPr>
          <a:xfrm>
            <a:off x="0" y="6404750"/>
            <a:ext cx="27135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number / Total page number</a:t>
            </a:r>
          </a:p>
        </p:txBody>
      </p:sp>
    </p:spTree>
    <p:extLst>
      <p:ext uri="{BB962C8B-B14F-4D97-AF65-F5344CB8AC3E}">
        <p14:creationId xmlns:p14="http://schemas.microsoft.com/office/powerpoint/2010/main" val="2450752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4D887-9E54-5CB4-D2AE-D33502650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1">
            <a:extLst>
              <a:ext uri="{FF2B5EF4-FFF2-40B4-BE49-F238E27FC236}">
                <a16:creationId xmlns:a16="http://schemas.microsoft.com/office/drawing/2014/main" id="{A293180A-847A-454A-1636-F88DBCCB211A}"/>
              </a:ext>
            </a:extLst>
          </p:cNvPr>
          <p:cNvSpPr txBox="1"/>
          <p:nvPr/>
        </p:nvSpPr>
        <p:spPr>
          <a:xfrm>
            <a:off x="625209" y="1934786"/>
            <a:ext cx="349020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5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Article’s Code in ICBME 2025: icbme_1007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642B891-9026-EC7B-1315-9823C70983FA}"/>
              </a:ext>
            </a:extLst>
          </p:cNvPr>
          <p:cNvSpPr txBox="1"/>
          <p:nvPr/>
        </p:nvSpPr>
        <p:spPr>
          <a:xfrm>
            <a:off x="0" y="6404750"/>
            <a:ext cx="27135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number / Total page number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EAB554-4080-A7A1-AB4A-DB72A918294F}"/>
              </a:ext>
            </a:extLst>
          </p:cNvPr>
          <p:cNvSpPr txBox="1"/>
          <p:nvPr/>
        </p:nvSpPr>
        <p:spPr>
          <a:xfrm>
            <a:off x="769804" y="2461259"/>
            <a:ext cx="7756791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</a:t>
            </a: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open-source Persian medical language model — breaking the barrier of closed and inaccessible solutions.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a 90M-token Persian medical corpus from trusted online sources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Introduced MF3QA, the first free-form Persian doctor–patient Q&amp;A dataset (~20k pairs).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 the first Persian medical benchmark by translating MMLU medical tasks + using Iran’s IBMSEE exam.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that a small 8B model can outperform general LMs and pipelines — making secure,</a:t>
            </a: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on-device medical AI possible for Persian speakers.</a:t>
            </a:r>
          </a:p>
          <a:p>
            <a:endParaRPr lang="en-US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4070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33EA9-4B46-4D24-5ADE-63D2B8780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1">
            <a:extLst>
              <a:ext uri="{FF2B5EF4-FFF2-40B4-BE49-F238E27FC236}">
                <a16:creationId xmlns:a16="http://schemas.microsoft.com/office/drawing/2014/main" id="{EF29A699-71A0-B07F-6EB5-749696935664}"/>
              </a:ext>
            </a:extLst>
          </p:cNvPr>
          <p:cNvSpPr txBox="1"/>
          <p:nvPr/>
        </p:nvSpPr>
        <p:spPr>
          <a:xfrm>
            <a:off x="625209" y="1934786"/>
            <a:ext cx="349020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5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Article’s Code in ICBME 2025: icbme_1007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03B5C11-6B9D-4967-6FF2-F082CABFBAAF}"/>
              </a:ext>
            </a:extLst>
          </p:cNvPr>
          <p:cNvSpPr txBox="1"/>
          <p:nvPr/>
        </p:nvSpPr>
        <p:spPr>
          <a:xfrm>
            <a:off x="0" y="6404750"/>
            <a:ext cx="27135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number / Total page number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8DAB5F-65E8-0FB3-9DA2-05D43A6D9F89}"/>
              </a:ext>
            </a:extLst>
          </p:cNvPr>
          <p:cNvSpPr txBox="1"/>
          <p:nvPr/>
        </p:nvSpPr>
        <p:spPr>
          <a:xfrm>
            <a:off x="846004" y="2234868"/>
            <a:ext cx="7756791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Construction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Persian Medical Corpus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~100k medical articles from trusted Persian sources.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~90M tokens → first large-scale Persian medical corpus.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Covers diseases, treatments, lifestyle; foundation for medical language.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MF3QA (Doctor–Patient Q&amp;A)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Crawled &gt;180k raw pairs from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drhast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niniban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doctor-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yab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isovisit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BFS crawler used on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drhast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120k records in 2 weeks.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Heavy filtering (short answers) → final ~20k high-quality pairs.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Train: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drhast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niniban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Test: doctor-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yab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isovisit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translated K-QA.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Benchmarks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Translated medical portion of MMLU into Persian.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IBMSEE exam questions.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reliable benchmarks for Persian medical LMs.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988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ACB80-EB8C-8619-7C6E-81ABD43E0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1">
            <a:extLst>
              <a:ext uri="{FF2B5EF4-FFF2-40B4-BE49-F238E27FC236}">
                <a16:creationId xmlns:a16="http://schemas.microsoft.com/office/drawing/2014/main" id="{25420105-863C-99F3-3FEF-20C91B8ACD08}"/>
              </a:ext>
            </a:extLst>
          </p:cNvPr>
          <p:cNvSpPr txBox="1"/>
          <p:nvPr/>
        </p:nvSpPr>
        <p:spPr>
          <a:xfrm>
            <a:off x="625209" y="1934786"/>
            <a:ext cx="349020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5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Article’s Code in ICBME 2025: icbme_1007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A5EF11A-413C-AAAB-C562-A65473374302}"/>
              </a:ext>
            </a:extLst>
          </p:cNvPr>
          <p:cNvSpPr txBox="1"/>
          <p:nvPr/>
        </p:nvSpPr>
        <p:spPr>
          <a:xfrm>
            <a:off x="0" y="6404750"/>
            <a:ext cx="27135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number / Total page number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26923E-3842-D83B-0D9E-B0B1676044FC}"/>
              </a:ext>
            </a:extLst>
          </p:cNvPr>
          <p:cNvSpPr txBox="1"/>
          <p:nvPr/>
        </p:nvSpPr>
        <p:spPr>
          <a:xfrm>
            <a:off x="865054" y="2520618"/>
            <a:ext cx="7756791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/ Training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Model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Aya-Expanse-8B chosen for strong Persian support → fluent, grammar-rich output without code-switching.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Fine-Tuning (Corpus, 90M tokens)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60% of medical corpus to inject domain knowledge.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 techniques: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(r=8, </a:t>
            </a:r>
            <a:r>
              <a:rPr lang="el-G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α=16,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=5%).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checkpointing + accumulation (batch 2 → effective 32).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FlashAttention-2 for long contexts.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 memory-efficient fine-tuning with limited compute.</a:t>
            </a:r>
          </a:p>
        </p:txBody>
      </p:sp>
    </p:spTree>
    <p:extLst>
      <p:ext uri="{BB962C8B-B14F-4D97-AF65-F5344CB8AC3E}">
        <p14:creationId xmlns:p14="http://schemas.microsoft.com/office/powerpoint/2010/main" val="2607716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306BC-22D0-C319-4A45-0C1A7F309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1">
            <a:extLst>
              <a:ext uri="{FF2B5EF4-FFF2-40B4-BE49-F238E27FC236}">
                <a16:creationId xmlns:a16="http://schemas.microsoft.com/office/drawing/2014/main" id="{2AD6E3AB-7A63-23BA-AA40-E6291DC56C4D}"/>
              </a:ext>
            </a:extLst>
          </p:cNvPr>
          <p:cNvSpPr txBox="1"/>
          <p:nvPr/>
        </p:nvSpPr>
        <p:spPr>
          <a:xfrm>
            <a:off x="625209" y="1934786"/>
            <a:ext cx="349020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5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Article’s Code in ICBME 2025: icbme_1007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1DEDE66-98D5-6DB8-1389-F05FA4349B43}"/>
              </a:ext>
            </a:extLst>
          </p:cNvPr>
          <p:cNvSpPr txBox="1"/>
          <p:nvPr/>
        </p:nvSpPr>
        <p:spPr>
          <a:xfrm>
            <a:off x="0" y="6404750"/>
            <a:ext cx="27135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number / Total page number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CB164F-4B8F-4AC9-EBAA-CF1E39AF9DFE}"/>
              </a:ext>
            </a:extLst>
          </p:cNvPr>
          <p:cNvSpPr txBox="1"/>
          <p:nvPr/>
        </p:nvSpPr>
        <p:spPr>
          <a:xfrm>
            <a:off x="809625" y="2730168"/>
            <a:ext cx="7756791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/ Training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Instruction-Tuning (MF3QA, ~20k pairs)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lighter settings: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(r=2, </a:t>
            </a:r>
            <a:r>
              <a:rPr lang="el-G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α=2,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=0.4), weight decay=0.5.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epoch with Aya-Expanse template.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context-aware, empathetic, structured Farsi answers.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Efficiency &amp; Sustainability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done in ~19h on 1×NVIDIA A100 (40GB).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Carbon footprint ≈ 2.66 kg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CO₂e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low-cost and eco-friendly.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364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28AF3-3AB0-CFFA-C9D2-E4DE310AA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1">
            <a:extLst>
              <a:ext uri="{FF2B5EF4-FFF2-40B4-BE49-F238E27FC236}">
                <a16:creationId xmlns:a16="http://schemas.microsoft.com/office/drawing/2014/main" id="{0857C11F-C6B1-F9E5-6292-EDADC4FE55A4}"/>
              </a:ext>
            </a:extLst>
          </p:cNvPr>
          <p:cNvSpPr txBox="1"/>
          <p:nvPr/>
        </p:nvSpPr>
        <p:spPr>
          <a:xfrm>
            <a:off x="625209" y="1934786"/>
            <a:ext cx="349020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5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Article’s Code in ICBME 2025: icbme_1007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23D1C8C-9852-0D9E-C6A4-BE822F4642E2}"/>
              </a:ext>
            </a:extLst>
          </p:cNvPr>
          <p:cNvSpPr txBox="1"/>
          <p:nvPr/>
        </p:nvSpPr>
        <p:spPr>
          <a:xfrm>
            <a:off x="0" y="6404750"/>
            <a:ext cx="27135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number / Total page number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08AFF6-7A12-E02A-1760-40FFEB65962B}"/>
              </a:ext>
            </a:extLst>
          </p:cNvPr>
          <p:cNvSpPr txBox="1"/>
          <p:nvPr/>
        </p:nvSpPr>
        <p:spPr>
          <a:xfrm>
            <a:off x="809625" y="2730168"/>
            <a:ext cx="775679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Persian Medical LM to pass a national exam</a:t>
            </a:r>
          </a:p>
          <a:p>
            <a:pPr lvl="1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Achieved 38.69% on the Iranian Basic Medical Sciences Entrance Exam (IBMSEE), above the 36% passing threshold.</a:t>
            </a:r>
          </a:p>
          <a:p>
            <a:pPr lvl="1"/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Superior performance on MMLU (medical tasks, Persian-translated)</a:t>
            </a:r>
          </a:p>
          <a:p>
            <a:pPr lvl="1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Outperformed Aya-Expanse, Qwen2, and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PersianMind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across almost all medical sub-domains.</a:t>
            </a:r>
          </a:p>
          <a:p>
            <a:pPr lvl="1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state-of-the-art understanding of Persian medical knowledge.</a:t>
            </a:r>
          </a:p>
          <a:p>
            <a:pPr lvl="1"/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2625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72EF5-D440-3F3B-C478-8144E6E46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1">
            <a:extLst>
              <a:ext uri="{FF2B5EF4-FFF2-40B4-BE49-F238E27FC236}">
                <a16:creationId xmlns:a16="http://schemas.microsoft.com/office/drawing/2014/main" id="{50A12DF5-E0B6-4C5F-C41F-33BDE10F4880}"/>
              </a:ext>
            </a:extLst>
          </p:cNvPr>
          <p:cNvSpPr txBox="1"/>
          <p:nvPr/>
        </p:nvSpPr>
        <p:spPr>
          <a:xfrm>
            <a:off x="625209" y="1934786"/>
            <a:ext cx="349020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5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Article’s Code in ICBME 2025: icbme_1007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5779BC2-B30B-E8D6-A708-F147D514BE4B}"/>
              </a:ext>
            </a:extLst>
          </p:cNvPr>
          <p:cNvSpPr txBox="1"/>
          <p:nvPr/>
        </p:nvSpPr>
        <p:spPr>
          <a:xfrm>
            <a:off x="0" y="6404750"/>
            <a:ext cx="27135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number / Total page number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65BE28-43BB-8EC9-FC94-7277C093709F}"/>
              </a:ext>
            </a:extLst>
          </p:cNvPr>
          <p:cNvSpPr txBox="1"/>
          <p:nvPr/>
        </p:nvSpPr>
        <p:spPr>
          <a:xfrm>
            <a:off x="809625" y="2501568"/>
            <a:ext cx="7756791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High-quality Free-Form Q&amp;A</a:t>
            </a:r>
          </a:p>
          <a:p>
            <a:pPr lvl="1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Independent evaluation by GPT-4o showed a clear preference for our model’s answers over competing models.</a:t>
            </a:r>
          </a:p>
          <a:p>
            <a:pPr lvl="1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Responses judged as more accurate, detailed, and context-aware.</a:t>
            </a:r>
          </a:p>
          <a:p>
            <a:pPr lvl="1"/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Better than pipeline alternatives</a:t>
            </a:r>
          </a:p>
          <a:p>
            <a:pPr lvl="1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model outperformed translation-based pipelines (Persian → English → Medical LM → Persian).</a:t>
            </a:r>
          </a:p>
          <a:p>
            <a:pPr lvl="1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inference and superior handling of medical terminology, avoiding dangerous mistranslations</a:t>
            </a:r>
          </a:p>
          <a:p>
            <a:pPr lvl="1"/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749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323D0-D452-3EE9-063E-28DAC2B80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1">
            <a:extLst>
              <a:ext uri="{FF2B5EF4-FFF2-40B4-BE49-F238E27FC236}">
                <a16:creationId xmlns:a16="http://schemas.microsoft.com/office/drawing/2014/main" id="{9F55F9E6-9992-11CB-43C0-38D27F6FF666}"/>
              </a:ext>
            </a:extLst>
          </p:cNvPr>
          <p:cNvSpPr txBox="1"/>
          <p:nvPr/>
        </p:nvSpPr>
        <p:spPr>
          <a:xfrm>
            <a:off x="625209" y="1934786"/>
            <a:ext cx="349020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5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Article’s Code in ICBME 2025: icbme_1007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79BC303-3EAA-8EF0-454D-43908681E23A}"/>
              </a:ext>
            </a:extLst>
          </p:cNvPr>
          <p:cNvSpPr txBox="1"/>
          <p:nvPr/>
        </p:nvSpPr>
        <p:spPr>
          <a:xfrm>
            <a:off x="0" y="6404750"/>
            <a:ext cx="27135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number / Total page number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FAF0AC-A387-B2CE-B4F7-E9C84FD47FE0}"/>
              </a:ext>
            </a:extLst>
          </p:cNvPr>
          <p:cNvSpPr txBox="1"/>
          <p:nvPr/>
        </p:nvSpPr>
        <p:spPr>
          <a:xfrm>
            <a:off x="1026054" y="2520428"/>
            <a:ext cx="77567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E107B4-8DAC-9409-8134-2C234BB531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1835980"/>
              </p:ext>
            </p:extLst>
          </p:nvPr>
        </p:nvGraphicFramePr>
        <p:xfrm>
          <a:off x="1026054" y="3329209"/>
          <a:ext cx="7091892" cy="1981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363964">
                  <a:extLst>
                    <a:ext uri="{9D8B030D-6E8A-4147-A177-3AD203B41FA5}">
                      <a16:colId xmlns:a16="http://schemas.microsoft.com/office/drawing/2014/main" val="3699394746"/>
                    </a:ext>
                  </a:extLst>
                </a:gridCol>
                <a:gridCol w="2363964">
                  <a:extLst>
                    <a:ext uri="{9D8B030D-6E8A-4147-A177-3AD203B41FA5}">
                      <a16:colId xmlns:a16="http://schemas.microsoft.com/office/drawing/2014/main" val="418805664"/>
                    </a:ext>
                  </a:extLst>
                </a:gridCol>
                <a:gridCol w="2363964">
                  <a:extLst>
                    <a:ext uri="{9D8B030D-6E8A-4147-A177-3AD203B41FA5}">
                      <a16:colId xmlns:a16="http://schemas.microsoft.com/office/drawing/2014/main" val="3334438437"/>
                    </a:ext>
                  </a:extLst>
                </a:gridCol>
              </a:tblGrid>
              <a:tr h="37862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MMLU(avg)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IBMSEE(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2011252"/>
                  </a:ext>
                </a:extLst>
              </a:tr>
              <a:tr h="37862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Gaokerena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(ours)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38.69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3025361"/>
                  </a:ext>
                </a:extLst>
              </a:tr>
              <a:tr h="37862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Aya-expanse-8b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34.52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622750"/>
                  </a:ext>
                </a:extLst>
              </a:tr>
              <a:tr h="37862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Qwen 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305590"/>
                  </a:ext>
                </a:extLst>
              </a:tr>
              <a:tr h="37862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PersianMind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19.64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8357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2298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FCC1B-BF97-2E2F-776B-C5E726CD5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1">
            <a:extLst>
              <a:ext uri="{FF2B5EF4-FFF2-40B4-BE49-F238E27FC236}">
                <a16:creationId xmlns:a16="http://schemas.microsoft.com/office/drawing/2014/main" id="{F348E4DC-DC5B-C1CD-13C4-A4BB9B360009}"/>
              </a:ext>
            </a:extLst>
          </p:cNvPr>
          <p:cNvSpPr txBox="1"/>
          <p:nvPr/>
        </p:nvSpPr>
        <p:spPr>
          <a:xfrm>
            <a:off x="625209" y="1934786"/>
            <a:ext cx="349020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5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Article’s Code in ICBME 2025: icbme_1007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AC5735F-1CDF-9649-36B3-B5659345FAE3}"/>
              </a:ext>
            </a:extLst>
          </p:cNvPr>
          <p:cNvSpPr txBox="1"/>
          <p:nvPr/>
        </p:nvSpPr>
        <p:spPr>
          <a:xfrm>
            <a:off x="0" y="6404750"/>
            <a:ext cx="27135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number / Total page number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06C61B-BF58-9777-A31F-00D65D13E741}"/>
              </a:ext>
            </a:extLst>
          </p:cNvPr>
          <p:cNvSpPr txBox="1"/>
          <p:nvPr/>
        </p:nvSpPr>
        <p:spPr>
          <a:xfrm>
            <a:off x="693604" y="2353742"/>
            <a:ext cx="77567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red and blue graph&#10;&#10;AI-generated content may be incorrect.">
            <a:extLst>
              <a:ext uri="{FF2B5EF4-FFF2-40B4-BE49-F238E27FC236}">
                <a16:creationId xmlns:a16="http://schemas.microsoft.com/office/drawing/2014/main" id="{48D5B2E1-4B70-99DA-AC73-371CDF8878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6" y="4132898"/>
            <a:ext cx="6758736" cy="21734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E7DF13-5B9A-5CD7-9BFF-9481150D1A6E}"/>
              </a:ext>
            </a:extLst>
          </p:cNvPr>
          <p:cNvSpPr txBox="1"/>
          <p:nvPr/>
        </p:nvSpPr>
        <p:spPr>
          <a:xfrm>
            <a:off x="824464" y="2934814"/>
            <a:ext cx="7329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Gaokerena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-V consistently outperforms Aya-Expanse-8B, Qwen2.5-8B, and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PersianMind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free-form Q&amp;A. GPT-4o judges strongly preferring its answers for accuracy, detail, and medical reliability.</a:t>
            </a:r>
          </a:p>
        </p:txBody>
      </p:sp>
    </p:spTree>
    <p:extLst>
      <p:ext uri="{BB962C8B-B14F-4D97-AF65-F5344CB8AC3E}">
        <p14:creationId xmlns:p14="http://schemas.microsoft.com/office/powerpoint/2010/main" val="1284855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A1B24-9705-9B7B-AFD7-DDE4A6B7C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1">
            <a:extLst>
              <a:ext uri="{FF2B5EF4-FFF2-40B4-BE49-F238E27FC236}">
                <a16:creationId xmlns:a16="http://schemas.microsoft.com/office/drawing/2014/main" id="{EA1AF725-5747-2339-C614-F7A2F1959B83}"/>
              </a:ext>
            </a:extLst>
          </p:cNvPr>
          <p:cNvSpPr txBox="1"/>
          <p:nvPr/>
        </p:nvSpPr>
        <p:spPr>
          <a:xfrm>
            <a:off x="625209" y="1934786"/>
            <a:ext cx="349020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5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Article’s Code in ICBME 2025: icbme_1007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024D944-6858-2B22-02C7-E3770CFE37A6}"/>
              </a:ext>
            </a:extLst>
          </p:cNvPr>
          <p:cNvSpPr txBox="1"/>
          <p:nvPr/>
        </p:nvSpPr>
        <p:spPr>
          <a:xfrm>
            <a:off x="0" y="6404750"/>
            <a:ext cx="27135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number / Total page number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E72C00-65E4-761F-2B11-A3F3B05F9FF4}"/>
              </a:ext>
            </a:extLst>
          </p:cNvPr>
          <p:cNvSpPr txBox="1"/>
          <p:nvPr/>
        </p:nvSpPr>
        <p:spPr>
          <a:xfrm>
            <a:off x="771525" y="2501568"/>
            <a:ext cx="7756791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the first open-source Persian medical language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 90M-token medical corpus and the MF3QA dataset (~20k Q&amp;A).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the first Persian medical benchmarks (MMLU translated + IBMSEE).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model passed a national medical exam and outperformed general LMs and pipelines.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strong step toward accessible, reliable, and resource-efficient Persian medical AI.</a:t>
            </a:r>
          </a:p>
        </p:txBody>
      </p:sp>
    </p:spTree>
    <p:extLst>
      <p:ext uri="{BB962C8B-B14F-4D97-AF65-F5344CB8AC3E}">
        <p14:creationId xmlns:p14="http://schemas.microsoft.com/office/powerpoint/2010/main" val="8855548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/>
        </p:nvSpPr>
        <p:spPr>
          <a:xfrm>
            <a:off x="625209" y="1934786"/>
            <a:ext cx="349020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5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Article’s Code in ICBME 2025: icbme_1007</a:t>
            </a:r>
          </a:p>
        </p:txBody>
      </p:sp>
      <p:sp>
        <p:nvSpPr>
          <p:cNvPr id="7" name="TextBox 10"/>
          <p:cNvSpPr txBox="1"/>
          <p:nvPr/>
        </p:nvSpPr>
        <p:spPr>
          <a:xfrm>
            <a:off x="0" y="6404750"/>
            <a:ext cx="27135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number / Total page number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191DE6-8F8A-19A7-071D-C442EDFE8BAD}"/>
              </a:ext>
            </a:extLst>
          </p:cNvPr>
          <p:cNvSpPr txBox="1"/>
          <p:nvPr/>
        </p:nvSpPr>
        <p:spPr>
          <a:xfrm>
            <a:off x="1706470" y="2400300"/>
            <a:ext cx="53014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Thanks for your attention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24AF89-87CB-69FC-04ED-F8D33527E96F}"/>
              </a:ext>
            </a:extLst>
          </p:cNvPr>
          <p:cNvSpPr txBox="1"/>
          <p:nvPr/>
        </p:nvSpPr>
        <p:spPr>
          <a:xfrm>
            <a:off x="1580884" y="3409950"/>
            <a:ext cx="51603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data will be available at: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https://github.com/Mehrdadghassabi/Gaokerena-V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https://huggingface.co/gaokerena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94312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94C68FA9-42E8-47BA-BB1E-08E6208C4CE6}" vid="{CB601356-545B-4545-937A-26EF7FF172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1163</Words>
  <Application>Microsoft Office PowerPoint</Application>
  <PresentationFormat>On-screen Show (4:3)</PresentationFormat>
  <Paragraphs>144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DM Serif Text</vt:lpstr>
      <vt:lpstr>Montserrat</vt:lpstr>
      <vt:lpstr>Nunito Sans Medium</vt:lpstr>
      <vt:lpstr>Times New Roman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2024-07-21T07:56:48Z</dcterms:created>
  <dcterms:modified xsi:type="dcterms:W3CDTF">2025-10-03T15:24:24Z</dcterms:modified>
</cp:coreProperties>
</file>